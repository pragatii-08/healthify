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8288000" cy="10287000"/>
  <p:notesSz cx="6858000" cy="9144000"/>
  <p:embeddedFontLst>
    <p:embeddedFont>
      <p:font typeface="Canva Sans" panose="020B0604020202020204" charset="0"/>
      <p:regular r:id="rId12"/>
    </p:embeddedFont>
    <p:embeddedFont>
      <p:font typeface="Canva Sans Bold" panose="020B0604020202020204" charset="0"/>
      <p:regular r:id="rId13"/>
    </p:embeddedFont>
    <p:embeddedFont>
      <p:font typeface="Montserrat Bold" panose="020B0604020202020204" charset="0"/>
      <p:regular r:id="rId14"/>
    </p:embeddedFont>
    <p:embeddedFont>
      <p:font typeface="Poppins" panose="00000500000000000000" pitchFamily="2" charset="0"/>
      <p:regular r:id="rId15"/>
    </p:embeddedFont>
    <p:embeddedFont>
      <p:font typeface="Poppins Bold" panose="020B0604020202020204" charset="0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5" d="100"/>
          <a:sy n="55" d="100"/>
        </p:scale>
        <p:origin x="658" y="3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2/20/2026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eg"/><Relationship Id="rId3" Type="http://schemas.openxmlformats.org/officeDocument/2006/relationships/image" Target="../media/image2.png"/><Relationship Id="rId7" Type="http://schemas.openxmlformats.org/officeDocument/2006/relationships/image" Target="../media/image6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7" Type="http://schemas.openxmlformats.org/officeDocument/2006/relationships/image" Target="../media/image7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jpeg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7.jpe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jpeg"/><Relationship Id="rId5" Type="http://schemas.openxmlformats.org/officeDocument/2006/relationships/image" Target="../media/image11.jpeg"/><Relationship Id="rId4" Type="http://schemas.openxmlformats.org/officeDocument/2006/relationships/image" Target="../media/image10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eg"/><Relationship Id="rId3" Type="http://schemas.openxmlformats.org/officeDocument/2006/relationships/image" Target="../media/image13.png"/><Relationship Id="rId7" Type="http://schemas.openxmlformats.org/officeDocument/2006/relationships/image" Target="../media/image6.jpe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svg"/><Relationship Id="rId5" Type="http://schemas.openxmlformats.org/officeDocument/2006/relationships/image" Target="../media/image15.png"/><Relationship Id="rId4" Type="http://schemas.openxmlformats.org/officeDocument/2006/relationships/image" Target="../media/image14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jpeg"/><Relationship Id="rId5" Type="http://schemas.openxmlformats.org/officeDocument/2006/relationships/image" Target="../media/image6.jpeg"/><Relationship Id="rId4" Type="http://schemas.openxmlformats.org/officeDocument/2006/relationships/image" Target="../media/image1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7.jpe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jpeg"/><Relationship Id="rId5" Type="http://schemas.openxmlformats.org/officeDocument/2006/relationships/image" Target="../media/image20.jpeg"/><Relationship Id="rId4" Type="http://schemas.openxmlformats.org/officeDocument/2006/relationships/image" Target="../media/image10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7" Type="http://schemas.openxmlformats.org/officeDocument/2006/relationships/image" Target="../media/image7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jpeg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svg"/><Relationship Id="rId3" Type="http://schemas.openxmlformats.org/officeDocument/2006/relationships/image" Target="../media/image13.png"/><Relationship Id="rId7" Type="http://schemas.openxmlformats.org/officeDocument/2006/relationships/image" Target="../media/image15.png"/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.svg"/><Relationship Id="rId5" Type="http://schemas.openxmlformats.org/officeDocument/2006/relationships/image" Target="../media/image22.png"/><Relationship Id="rId10" Type="http://schemas.openxmlformats.org/officeDocument/2006/relationships/image" Target="../media/image7.jpeg"/><Relationship Id="rId4" Type="http://schemas.openxmlformats.org/officeDocument/2006/relationships/image" Target="../media/image14.svg"/><Relationship Id="rId9" Type="http://schemas.openxmlformats.org/officeDocument/2006/relationships/image" Target="../media/image6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3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3526900" y="9168860"/>
            <a:ext cx="3774938" cy="3943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940"/>
              </a:lnSpc>
            </a:pPr>
            <a:r>
              <a:rPr lang="en-US" sz="2100" b="1" spc="-84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Page 1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8524799" y="0"/>
            <a:ext cx="9763201" cy="10287000"/>
            <a:chOff x="0" y="0"/>
            <a:chExt cx="13017602" cy="137160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3017627" cy="13716000"/>
            </a:xfrm>
            <a:custGeom>
              <a:avLst/>
              <a:gdLst/>
              <a:ahLst/>
              <a:cxnLst/>
              <a:rect l="l" t="t" r="r" b="b"/>
              <a:pathLst>
                <a:path w="13017627" h="13716000">
                  <a:moveTo>
                    <a:pt x="0" y="0"/>
                  </a:moveTo>
                  <a:lnTo>
                    <a:pt x="13017627" y="0"/>
                  </a:lnTo>
                  <a:lnTo>
                    <a:pt x="13017627" y="13716000"/>
                  </a:lnTo>
                  <a:lnTo>
                    <a:pt x="0" y="13716000"/>
                  </a:lnTo>
                  <a:close/>
                </a:path>
              </a:pathLst>
            </a:custGeom>
            <a:blipFill>
              <a:blip r:embed="rId2"/>
              <a:stretch>
                <a:fillRect l="-2682" r="-2682"/>
              </a:stretch>
            </a:blipFill>
          </p:spPr>
        </p:sp>
      </p:grpSp>
      <p:sp>
        <p:nvSpPr>
          <p:cNvPr id="5" name="Freeform 5"/>
          <p:cNvSpPr/>
          <p:nvPr/>
        </p:nvSpPr>
        <p:spPr>
          <a:xfrm>
            <a:off x="-2452097" y="-2419350"/>
            <a:ext cx="15349661" cy="14381817"/>
          </a:xfrm>
          <a:custGeom>
            <a:avLst/>
            <a:gdLst/>
            <a:ahLst/>
            <a:cxnLst/>
            <a:rect l="l" t="t" r="r" b="b"/>
            <a:pathLst>
              <a:path w="15349661" h="14381817">
                <a:moveTo>
                  <a:pt x="0" y="0"/>
                </a:moveTo>
                <a:lnTo>
                  <a:pt x="15349661" y="0"/>
                </a:lnTo>
                <a:lnTo>
                  <a:pt x="15349661" y="14381817"/>
                </a:lnTo>
                <a:lnTo>
                  <a:pt x="0" y="1438181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-3610899" y="-1994106"/>
            <a:ext cx="15349661" cy="14381817"/>
          </a:xfrm>
          <a:custGeom>
            <a:avLst/>
            <a:gdLst/>
            <a:ahLst/>
            <a:cxnLst/>
            <a:rect l="l" t="t" r="r" b="b"/>
            <a:pathLst>
              <a:path w="15349661" h="14381817">
                <a:moveTo>
                  <a:pt x="0" y="0"/>
                </a:moveTo>
                <a:lnTo>
                  <a:pt x="15349661" y="0"/>
                </a:lnTo>
                <a:lnTo>
                  <a:pt x="15349661" y="14381816"/>
                </a:lnTo>
                <a:lnTo>
                  <a:pt x="0" y="1438181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1604935" y="4185559"/>
            <a:ext cx="6176232" cy="14839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180"/>
              </a:lnSpc>
            </a:pPr>
            <a:r>
              <a:rPr lang="en-US" sz="8700" b="1" spc="-347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HEALTHIFY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129064" y="116634"/>
            <a:ext cx="549021" cy="577177"/>
            <a:chOff x="0" y="0"/>
            <a:chExt cx="732028" cy="769569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732028" cy="769620"/>
            </a:xfrm>
            <a:custGeom>
              <a:avLst/>
              <a:gdLst/>
              <a:ahLst/>
              <a:cxnLst/>
              <a:rect l="l" t="t" r="r" b="b"/>
              <a:pathLst>
                <a:path w="732028" h="769620">
                  <a:moveTo>
                    <a:pt x="0" y="0"/>
                  </a:moveTo>
                  <a:lnTo>
                    <a:pt x="732028" y="0"/>
                  </a:lnTo>
                  <a:lnTo>
                    <a:pt x="732028" y="769620"/>
                  </a:lnTo>
                  <a:lnTo>
                    <a:pt x="0" y="7696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b="6"/>
              </a:stretch>
            </a:blipFill>
          </p:spPr>
        </p:sp>
      </p:grpSp>
      <p:grpSp>
        <p:nvGrpSpPr>
          <p:cNvPr id="10" name="Group 10"/>
          <p:cNvGrpSpPr/>
          <p:nvPr/>
        </p:nvGrpSpPr>
        <p:grpSpPr>
          <a:xfrm>
            <a:off x="16408632" y="116634"/>
            <a:ext cx="1786414" cy="320164"/>
            <a:chOff x="0" y="0"/>
            <a:chExt cx="2381885" cy="426885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381885" cy="426847"/>
            </a:xfrm>
            <a:custGeom>
              <a:avLst/>
              <a:gdLst/>
              <a:ahLst/>
              <a:cxnLst/>
              <a:rect l="l" t="t" r="r" b="b"/>
              <a:pathLst>
                <a:path w="2381885" h="426847">
                  <a:moveTo>
                    <a:pt x="0" y="0"/>
                  </a:moveTo>
                  <a:lnTo>
                    <a:pt x="2381885" y="0"/>
                  </a:lnTo>
                  <a:lnTo>
                    <a:pt x="2381885" y="426847"/>
                  </a:lnTo>
                  <a:lnTo>
                    <a:pt x="0" y="4268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b="-8"/>
              </a:stretch>
            </a:blipFill>
          </p:spPr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3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189958" y="685800"/>
            <a:ext cx="16438788" cy="17379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PREPARED BY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0" y="3239624"/>
            <a:ext cx="10414130" cy="8642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440"/>
              </a:lnSpc>
            </a:pPr>
            <a:r>
              <a:rPr lang="en-US" sz="4600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Priyati (24002171310022)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189958" y="4530442"/>
            <a:ext cx="7954042" cy="8642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440"/>
              </a:lnSpc>
            </a:pPr>
            <a:r>
              <a:rPr lang="en-US" sz="4600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Pragati(24002171310065) 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990600" y="5708161"/>
            <a:ext cx="7954042" cy="8642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440"/>
              </a:lnSpc>
            </a:pPr>
            <a:r>
              <a:rPr lang="en-US" sz="4600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Swara(24002171910016)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129064" y="116634"/>
            <a:ext cx="549021" cy="577177"/>
            <a:chOff x="0" y="0"/>
            <a:chExt cx="732028" cy="769569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732028" cy="769620"/>
            </a:xfrm>
            <a:custGeom>
              <a:avLst/>
              <a:gdLst/>
              <a:ahLst/>
              <a:cxnLst/>
              <a:rect l="l" t="t" r="r" b="b"/>
              <a:pathLst>
                <a:path w="732028" h="769620">
                  <a:moveTo>
                    <a:pt x="0" y="0"/>
                  </a:moveTo>
                  <a:lnTo>
                    <a:pt x="732028" y="0"/>
                  </a:lnTo>
                  <a:lnTo>
                    <a:pt x="732028" y="769620"/>
                  </a:lnTo>
                  <a:lnTo>
                    <a:pt x="0" y="7696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b="6"/>
              </a:stretch>
            </a:blipFill>
          </p:spPr>
        </p:sp>
      </p:grpSp>
      <p:grpSp>
        <p:nvGrpSpPr>
          <p:cNvPr id="8" name="Group 8"/>
          <p:cNvGrpSpPr/>
          <p:nvPr/>
        </p:nvGrpSpPr>
        <p:grpSpPr>
          <a:xfrm>
            <a:off x="16408632" y="116634"/>
            <a:ext cx="1786414" cy="320164"/>
            <a:chOff x="0" y="0"/>
            <a:chExt cx="2381885" cy="426885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381885" cy="426847"/>
            </a:xfrm>
            <a:custGeom>
              <a:avLst/>
              <a:gdLst/>
              <a:ahLst/>
              <a:cxnLst/>
              <a:rect l="l" t="t" r="r" b="b"/>
              <a:pathLst>
                <a:path w="2381885" h="426847">
                  <a:moveTo>
                    <a:pt x="0" y="0"/>
                  </a:moveTo>
                  <a:lnTo>
                    <a:pt x="2381885" y="0"/>
                  </a:lnTo>
                  <a:lnTo>
                    <a:pt x="2381885" y="426847"/>
                  </a:lnTo>
                  <a:lnTo>
                    <a:pt x="0" y="4268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b="-8"/>
              </a:stretch>
            </a:blipFill>
          </p:spPr>
        </p:sp>
      </p:grp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BDC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2917850" y="-2419350"/>
            <a:ext cx="15349661" cy="14381817"/>
          </a:xfrm>
          <a:custGeom>
            <a:avLst/>
            <a:gdLst/>
            <a:ahLst/>
            <a:cxnLst/>
            <a:rect l="l" t="t" r="r" b="b"/>
            <a:pathLst>
              <a:path w="15349661" h="14381817">
                <a:moveTo>
                  <a:pt x="0" y="0"/>
                </a:moveTo>
                <a:lnTo>
                  <a:pt x="15349661" y="0"/>
                </a:lnTo>
                <a:lnTo>
                  <a:pt x="15349661" y="14381817"/>
                </a:lnTo>
                <a:lnTo>
                  <a:pt x="0" y="1438181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4582897" y="-2095348"/>
            <a:ext cx="15349661" cy="14381817"/>
          </a:xfrm>
          <a:custGeom>
            <a:avLst/>
            <a:gdLst/>
            <a:ahLst/>
            <a:cxnLst/>
            <a:rect l="l" t="t" r="r" b="b"/>
            <a:pathLst>
              <a:path w="15349661" h="14381817">
                <a:moveTo>
                  <a:pt x="0" y="0"/>
                </a:moveTo>
                <a:lnTo>
                  <a:pt x="15349662" y="0"/>
                </a:lnTo>
                <a:lnTo>
                  <a:pt x="15349662" y="14381817"/>
                </a:lnTo>
                <a:lnTo>
                  <a:pt x="0" y="1438181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1028700" y="2782529"/>
            <a:ext cx="9651149" cy="5926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116722" lvl="2" indent="-372241" algn="l">
              <a:lnSpc>
                <a:spcPts val="6838"/>
              </a:lnSpc>
              <a:buFont typeface="Arial"/>
              <a:buChar char="⚬"/>
            </a:pPr>
            <a:r>
              <a:rPr lang="en-US" sz="488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Introduction</a:t>
            </a:r>
          </a:p>
          <a:p>
            <a:pPr marL="1116722" lvl="2" indent="-372241" algn="l">
              <a:lnSpc>
                <a:spcPts val="6838"/>
              </a:lnSpc>
              <a:buFont typeface="Arial"/>
              <a:buChar char="⚬"/>
            </a:pPr>
            <a:r>
              <a:rPr lang="en-US" sz="488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Objective</a:t>
            </a:r>
          </a:p>
          <a:p>
            <a:pPr marL="1116722" lvl="2" indent="-372241" algn="l">
              <a:lnSpc>
                <a:spcPts val="6838"/>
              </a:lnSpc>
              <a:buFont typeface="Arial"/>
              <a:buChar char="⚬"/>
            </a:pPr>
            <a:r>
              <a:rPr lang="en-US" sz="488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Functionalities </a:t>
            </a:r>
          </a:p>
          <a:p>
            <a:pPr marL="1116722" lvl="2" indent="-372241" algn="l">
              <a:lnSpc>
                <a:spcPts val="6838"/>
              </a:lnSpc>
              <a:buFont typeface="Arial"/>
              <a:buChar char="⚬"/>
            </a:pPr>
            <a:r>
              <a:rPr lang="en-US" sz="488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Languages Used</a:t>
            </a:r>
          </a:p>
          <a:p>
            <a:pPr marL="1116722" lvl="2" indent="-372241" algn="l">
              <a:lnSpc>
                <a:spcPts val="6838"/>
              </a:lnSpc>
              <a:buFont typeface="Arial"/>
              <a:buChar char="⚬"/>
            </a:pPr>
            <a:r>
              <a:rPr lang="en-US" sz="488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Merits and Demerits</a:t>
            </a:r>
          </a:p>
          <a:p>
            <a:pPr marL="1116722" lvl="2" indent="-372241" algn="l">
              <a:lnSpc>
                <a:spcPts val="6838"/>
              </a:lnSpc>
              <a:buFont typeface="Arial"/>
              <a:buChar char="⚬"/>
            </a:pPr>
            <a:r>
              <a:rPr lang="en-US" sz="488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Future Scope</a:t>
            </a:r>
          </a:p>
          <a:p>
            <a:pPr marL="1116722" lvl="2" indent="-372241" algn="l">
              <a:lnSpc>
                <a:spcPts val="4490"/>
              </a:lnSpc>
            </a:pPr>
            <a:endParaRPr lang="en-US" sz="4884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1028700" y="685800"/>
            <a:ext cx="6389103" cy="17379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880"/>
              </a:lnSpc>
            </a:pPr>
            <a:r>
              <a:rPr lang="en-US" sz="9200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TOPICS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129064" y="116634"/>
            <a:ext cx="549021" cy="577177"/>
            <a:chOff x="0" y="0"/>
            <a:chExt cx="732028" cy="769569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732028" cy="769620"/>
            </a:xfrm>
            <a:custGeom>
              <a:avLst/>
              <a:gdLst/>
              <a:ahLst/>
              <a:cxnLst/>
              <a:rect l="l" t="t" r="r" b="b"/>
              <a:pathLst>
                <a:path w="732028" h="769620">
                  <a:moveTo>
                    <a:pt x="0" y="0"/>
                  </a:moveTo>
                  <a:lnTo>
                    <a:pt x="732028" y="0"/>
                  </a:lnTo>
                  <a:lnTo>
                    <a:pt x="732028" y="769620"/>
                  </a:lnTo>
                  <a:lnTo>
                    <a:pt x="0" y="7696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b="6"/>
              </a:stretch>
            </a:blipFill>
          </p:spPr>
        </p:sp>
      </p:grpSp>
      <p:grpSp>
        <p:nvGrpSpPr>
          <p:cNvPr id="8" name="Group 8"/>
          <p:cNvGrpSpPr/>
          <p:nvPr/>
        </p:nvGrpSpPr>
        <p:grpSpPr>
          <a:xfrm>
            <a:off x="16408632" y="116634"/>
            <a:ext cx="1786414" cy="320164"/>
            <a:chOff x="0" y="0"/>
            <a:chExt cx="2381885" cy="426885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381885" cy="426847"/>
            </a:xfrm>
            <a:custGeom>
              <a:avLst/>
              <a:gdLst/>
              <a:ahLst/>
              <a:cxnLst/>
              <a:rect l="l" t="t" r="r" b="b"/>
              <a:pathLst>
                <a:path w="2381885" h="426847">
                  <a:moveTo>
                    <a:pt x="0" y="0"/>
                  </a:moveTo>
                  <a:lnTo>
                    <a:pt x="2381885" y="0"/>
                  </a:lnTo>
                  <a:lnTo>
                    <a:pt x="2381885" y="426847"/>
                  </a:lnTo>
                  <a:lnTo>
                    <a:pt x="0" y="4268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b="-8"/>
              </a:stretch>
            </a:blipFill>
          </p:spPr>
        </p:sp>
      </p:grp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  <p:sp>
        <p:nvSpPr>
          <p:cNvPr id="4" name="Freeform 4"/>
          <p:cNvSpPr/>
          <p:nvPr/>
        </p:nvSpPr>
        <p:spPr>
          <a:xfrm>
            <a:off x="0" y="-144666"/>
            <a:ext cx="5172075" cy="10431666"/>
          </a:xfrm>
          <a:custGeom>
            <a:avLst/>
            <a:gdLst/>
            <a:ahLst/>
            <a:cxnLst/>
            <a:rect l="l" t="t" r="r" b="b"/>
            <a:pathLst>
              <a:path w="5172075" h="10431666">
                <a:moveTo>
                  <a:pt x="0" y="0"/>
                </a:moveTo>
                <a:lnTo>
                  <a:pt x="5172075" y="0"/>
                </a:lnTo>
                <a:lnTo>
                  <a:pt x="5172075" y="10431666"/>
                </a:lnTo>
                <a:lnTo>
                  <a:pt x="0" y="1043166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5" name="Group 5"/>
          <p:cNvGrpSpPr/>
          <p:nvPr/>
        </p:nvGrpSpPr>
        <p:grpSpPr>
          <a:xfrm>
            <a:off x="1028700" y="1200150"/>
            <a:ext cx="7029450" cy="9086850"/>
            <a:chOff x="0" y="0"/>
            <a:chExt cx="9372600" cy="12115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9372600" cy="12115800"/>
            </a:xfrm>
            <a:custGeom>
              <a:avLst/>
              <a:gdLst/>
              <a:ahLst/>
              <a:cxnLst/>
              <a:rect l="l" t="t" r="r" b="b"/>
              <a:pathLst>
                <a:path w="9372600" h="12115800">
                  <a:moveTo>
                    <a:pt x="0" y="0"/>
                  </a:moveTo>
                  <a:lnTo>
                    <a:pt x="9372600" y="0"/>
                  </a:lnTo>
                  <a:lnTo>
                    <a:pt x="9372600" y="12115800"/>
                  </a:lnTo>
                  <a:lnTo>
                    <a:pt x="0" y="12115800"/>
                  </a:lnTo>
                  <a:close/>
                </a:path>
              </a:pathLst>
            </a:custGeom>
            <a:blipFill>
              <a:blip r:embed="rId5"/>
              <a:stretch>
                <a:fillRect l="-46951" r="-46951"/>
              </a:stretch>
            </a:blipFill>
          </p:spPr>
        </p:sp>
      </p:grpSp>
      <p:sp>
        <p:nvSpPr>
          <p:cNvPr id="7" name="TextBox 7"/>
          <p:cNvSpPr txBox="1"/>
          <p:nvPr/>
        </p:nvSpPr>
        <p:spPr>
          <a:xfrm>
            <a:off x="8288903" y="781050"/>
            <a:ext cx="9329852" cy="16577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530"/>
              </a:lnSpc>
            </a:pPr>
            <a:r>
              <a:rPr lang="en-US" sz="9298" b="1">
                <a:solidFill>
                  <a:srgbClr val="2B2B2B"/>
                </a:solidFill>
                <a:latin typeface="Poppins Bold"/>
                <a:ea typeface="Poppins Bold"/>
                <a:cs typeface="Poppins Bold"/>
                <a:sym typeface="Poppins Bold"/>
              </a:rPr>
              <a:t>INTRODUCTION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144000" y="3504333"/>
            <a:ext cx="7619648" cy="54241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72660" lvl="2" indent="-190887" algn="just">
              <a:lnSpc>
                <a:spcPts val="4683"/>
              </a:lnSpc>
              <a:buFont typeface="Arial"/>
              <a:buChar char="⚬"/>
            </a:pPr>
            <a:r>
              <a:rPr lang="en-US" sz="2504" dirty="0" err="1">
                <a:solidFill>
                  <a:srgbClr val="2B2B2B"/>
                </a:solidFill>
                <a:latin typeface="Poppins"/>
                <a:ea typeface="Poppins"/>
                <a:cs typeface="Poppins"/>
                <a:sym typeface="Poppins"/>
              </a:rPr>
              <a:t>Healthify</a:t>
            </a:r>
            <a:r>
              <a:rPr lang="en-US" sz="2504" dirty="0">
                <a:solidFill>
                  <a:srgbClr val="2B2B2B"/>
                </a:solidFill>
                <a:latin typeface="Poppins"/>
                <a:ea typeface="Poppins"/>
                <a:cs typeface="Poppins"/>
                <a:sym typeface="Poppins"/>
              </a:rPr>
              <a:t> is a web-based healthcare management system that helps users book doctor appointments and access laboratory services online.</a:t>
            </a:r>
          </a:p>
          <a:p>
            <a:pPr marL="572660" lvl="2" indent="-190887" algn="just">
              <a:lnSpc>
                <a:spcPts val="4683"/>
              </a:lnSpc>
              <a:buFont typeface="Arial"/>
              <a:buChar char="⚬"/>
            </a:pPr>
            <a:r>
              <a:rPr lang="en-US" sz="2504" dirty="0">
                <a:solidFill>
                  <a:srgbClr val="2B2B2B"/>
                </a:solidFill>
                <a:latin typeface="Poppins"/>
                <a:ea typeface="Poppins"/>
                <a:cs typeface="Poppins"/>
                <a:sym typeface="Poppins"/>
              </a:rPr>
              <a:t>key Concept:- The key concept of </a:t>
            </a:r>
            <a:r>
              <a:rPr lang="en-US" sz="2504" dirty="0" err="1">
                <a:solidFill>
                  <a:srgbClr val="2B2B2B"/>
                </a:solidFill>
                <a:latin typeface="Poppins"/>
                <a:ea typeface="Poppins"/>
                <a:cs typeface="Poppins"/>
                <a:sym typeface="Poppins"/>
              </a:rPr>
              <a:t>Healthify</a:t>
            </a:r>
            <a:r>
              <a:rPr lang="en-US" sz="2504" dirty="0">
                <a:solidFill>
                  <a:srgbClr val="2B2B2B"/>
                </a:solidFill>
                <a:latin typeface="Poppins"/>
                <a:ea typeface="Poppins"/>
                <a:cs typeface="Poppins"/>
                <a:sym typeface="Poppins"/>
              </a:rPr>
              <a:t> is to digitize and simplify healthcare service access through an efficient, user-friendly platform.</a:t>
            </a:r>
          </a:p>
          <a:p>
            <a:pPr marL="572660" lvl="2" indent="-190887" algn="just">
              <a:lnSpc>
                <a:spcPts val="4107"/>
              </a:lnSpc>
            </a:pPr>
            <a:endParaRPr lang="en-US" sz="2504" dirty="0">
              <a:solidFill>
                <a:srgbClr val="2B2B2B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9" name="Group 9"/>
          <p:cNvGrpSpPr/>
          <p:nvPr/>
        </p:nvGrpSpPr>
        <p:grpSpPr>
          <a:xfrm>
            <a:off x="129064" y="116634"/>
            <a:ext cx="549021" cy="577177"/>
            <a:chOff x="0" y="0"/>
            <a:chExt cx="732028" cy="769569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732028" cy="769620"/>
            </a:xfrm>
            <a:custGeom>
              <a:avLst/>
              <a:gdLst/>
              <a:ahLst/>
              <a:cxnLst/>
              <a:rect l="l" t="t" r="r" b="b"/>
              <a:pathLst>
                <a:path w="732028" h="769620">
                  <a:moveTo>
                    <a:pt x="0" y="0"/>
                  </a:moveTo>
                  <a:lnTo>
                    <a:pt x="732028" y="0"/>
                  </a:lnTo>
                  <a:lnTo>
                    <a:pt x="732028" y="769620"/>
                  </a:lnTo>
                  <a:lnTo>
                    <a:pt x="0" y="7696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b="6"/>
              </a:stretch>
            </a:blipFill>
          </p:spPr>
        </p:sp>
      </p:grpSp>
      <p:grpSp>
        <p:nvGrpSpPr>
          <p:cNvPr id="11" name="Group 11"/>
          <p:cNvGrpSpPr/>
          <p:nvPr/>
        </p:nvGrpSpPr>
        <p:grpSpPr>
          <a:xfrm>
            <a:off x="16408632" y="116634"/>
            <a:ext cx="1786414" cy="320164"/>
            <a:chOff x="0" y="0"/>
            <a:chExt cx="2381885" cy="426885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381885" cy="426847"/>
            </a:xfrm>
            <a:custGeom>
              <a:avLst/>
              <a:gdLst/>
              <a:ahLst/>
              <a:cxnLst/>
              <a:rect l="l" t="t" r="r" b="b"/>
              <a:pathLst>
                <a:path w="2381885" h="426847">
                  <a:moveTo>
                    <a:pt x="0" y="0"/>
                  </a:moveTo>
                  <a:lnTo>
                    <a:pt x="2381885" y="0"/>
                  </a:lnTo>
                  <a:lnTo>
                    <a:pt x="2381885" y="426847"/>
                  </a:lnTo>
                  <a:lnTo>
                    <a:pt x="0" y="4268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b="-8"/>
              </a:stretch>
            </a:blipFill>
          </p:spPr>
        </p:sp>
      </p:grp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3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9144000" cy="10287000"/>
            <a:chOff x="0" y="0"/>
            <a:chExt cx="12192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2192000" cy="13716000"/>
            </a:xfrm>
            <a:custGeom>
              <a:avLst/>
              <a:gdLst/>
              <a:ahLst/>
              <a:cxnLst/>
              <a:rect l="l" t="t" r="r" b="b"/>
              <a:pathLst>
                <a:path w="12192000" h="13716000">
                  <a:moveTo>
                    <a:pt x="0" y="0"/>
                  </a:moveTo>
                  <a:lnTo>
                    <a:pt x="12192000" y="0"/>
                  </a:lnTo>
                  <a:lnTo>
                    <a:pt x="12192000" y="13716000"/>
                  </a:lnTo>
                  <a:lnTo>
                    <a:pt x="0" y="13716000"/>
                  </a:lnTo>
                  <a:close/>
                </a:path>
              </a:pathLst>
            </a:custGeom>
            <a:blipFill>
              <a:blip r:embed="rId2"/>
              <a:stretch>
                <a:fillRect l="-6250" r="-6250"/>
              </a:stretch>
            </a:blipFill>
          </p:spPr>
        </p:sp>
      </p:grpSp>
      <p:sp>
        <p:nvSpPr>
          <p:cNvPr id="4" name="Freeform 4"/>
          <p:cNvSpPr/>
          <p:nvPr/>
        </p:nvSpPr>
        <p:spPr>
          <a:xfrm rot="-5400000">
            <a:off x="17877682" y="4677775"/>
            <a:ext cx="191986" cy="287026"/>
          </a:xfrm>
          <a:custGeom>
            <a:avLst/>
            <a:gdLst/>
            <a:ahLst/>
            <a:cxnLst/>
            <a:rect l="l" t="t" r="r" b="b"/>
            <a:pathLst>
              <a:path w="191986" h="287026">
                <a:moveTo>
                  <a:pt x="0" y="0"/>
                </a:moveTo>
                <a:lnTo>
                  <a:pt x="191986" y="0"/>
                </a:lnTo>
                <a:lnTo>
                  <a:pt x="191986" y="287026"/>
                </a:lnTo>
                <a:lnTo>
                  <a:pt x="0" y="28702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640" r="-640"/>
            </a:stretch>
          </a:blipFill>
        </p:spPr>
      </p:sp>
      <p:sp>
        <p:nvSpPr>
          <p:cNvPr id="5" name="Freeform 5"/>
          <p:cNvSpPr/>
          <p:nvPr/>
        </p:nvSpPr>
        <p:spPr>
          <a:xfrm rot="5400000">
            <a:off x="17877682" y="5323094"/>
            <a:ext cx="191986" cy="287026"/>
          </a:xfrm>
          <a:custGeom>
            <a:avLst/>
            <a:gdLst/>
            <a:ahLst/>
            <a:cxnLst/>
            <a:rect l="l" t="t" r="r" b="b"/>
            <a:pathLst>
              <a:path w="191986" h="287026">
                <a:moveTo>
                  <a:pt x="0" y="0"/>
                </a:moveTo>
                <a:lnTo>
                  <a:pt x="191986" y="0"/>
                </a:lnTo>
                <a:lnTo>
                  <a:pt x="191986" y="287026"/>
                </a:lnTo>
                <a:lnTo>
                  <a:pt x="0" y="28702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640" r="-640"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2555377" y="927945"/>
            <a:ext cx="53731" cy="53731"/>
          </a:xfrm>
          <a:custGeom>
            <a:avLst/>
            <a:gdLst/>
            <a:ahLst/>
            <a:cxnLst/>
            <a:rect l="l" t="t" r="r" b="b"/>
            <a:pathLst>
              <a:path w="53731" h="53731">
                <a:moveTo>
                  <a:pt x="0" y="0"/>
                </a:moveTo>
                <a:lnTo>
                  <a:pt x="53730" y="0"/>
                </a:lnTo>
                <a:lnTo>
                  <a:pt x="53730" y="53730"/>
                </a:lnTo>
                <a:lnTo>
                  <a:pt x="0" y="5373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990600" y="9168860"/>
            <a:ext cx="3774938" cy="3943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b="1" spc="-84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www.reallygreatsite.com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650826" y="842943"/>
            <a:ext cx="6875174" cy="17379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1">
                <a:solidFill>
                  <a:srgbClr val="DBDCE2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OBJECTIVE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593894" y="3155633"/>
            <a:ext cx="8379781" cy="38902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722"/>
              </a:lnSpc>
            </a:pPr>
            <a:r>
              <a:rPr lang="en-US" sz="2658" spc="103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•</a:t>
            </a:r>
            <a:r>
              <a:rPr lang="en-US" sz="2800" dirty="0">
                <a:solidFill>
                  <a:schemeClr val="bg2"/>
                </a:solidFill>
              </a:rPr>
              <a:t>To develop a user-friendly online healthcare platform that </a:t>
            </a:r>
            <a:r>
              <a:rPr lang="en-US" sz="2800" dirty="0">
                <a:solidFill>
                  <a:schemeClr val="bg2"/>
                </a:solidFill>
                <a:latin typeface="Canva Sans" panose="020B0604020202020204" charset="0"/>
              </a:rPr>
              <a:t>enables</a:t>
            </a:r>
            <a:r>
              <a:rPr lang="en-US" sz="2800" dirty="0">
                <a:solidFill>
                  <a:schemeClr val="bg2"/>
                </a:solidFill>
              </a:rPr>
              <a:t> patients to search doctors and laboratories, book appointments, and manage medical records efficiently.</a:t>
            </a:r>
            <a:endParaRPr lang="en-US" sz="2658" spc="103" dirty="0">
              <a:solidFill>
                <a:schemeClr val="bg2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>
              <a:lnSpc>
                <a:spcPts val="3722"/>
              </a:lnSpc>
            </a:pPr>
            <a:r>
              <a:rPr lang="en-US" sz="2658" spc="103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•It main aims is to improve healthcare efficiency by reducing manual processes and enhancing digital health management.</a:t>
            </a:r>
          </a:p>
          <a:p>
            <a:pPr algn="ctr">
              <a:lnSpc>
                <a:spcPts val="4998"/>
              </a:lnSpc>
            </a:pPr>
            <a:endParaRPr lang="en-US" sz="2658" spc="103" dirty="0">
              <a:solidFill>
                <a:srgbClr val="FFFFFF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  <p:grpSp>
        <p:nvGrpSpPr>
          <p:cNvPr id="10" name="Group 10"/>
          <p:cNvGrpSpPr/>
          <p:nvPr/>
        </p:nvGrpSpPr>
        <p:grpSpPr>
          <a:xfrm>
            <a:off x="129064" y="116634"/>
            <a:ext cx="549021" cy="577177"/>
            <a:chOff x="0" y="0"/>
            <a:chExt cx="732028" cy="76956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732028" cy="769620"/>
            </a:xfrm>
            <a:custGeom>
              <a:avLst/>
              <a:gdLst/>
              <a:ahLst/>
              <a:cxnLst/>
              <a:rect l="l" t="t" r="r" b="b"/>
              <a:pathLst>
                <a:path w="732028" h="769620">
                  <a:moveTo>
                    <a:pt x="0" y="0"/>
                  </a:moveTo>
                  <a:lnTo>
                    <a:pt x="732028" y="0"/>
                  </a:lnTo>
                  <a:lnTo>
                    <a:pt x="732028" y="769620"/>
                  </a:lnTo>
                  <a:lnTo>
                    <a:pt x="0" y="7696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b="6"/>
              </a:stretch>
            </a:blipFill>
          </p:spPr>
        </p:sp>
      </p:grpSp>
      <p:grpSp>
        <p:nvGrpSpPr>
          <p:cNvPr id="12" name="Group 12"/>
          <p:cNvGrpSpPr/>
          <p:nvPr/>
        </p:nvGrpSpPr>
        <p:grpSpPr>
          <a:xfrm>
            <a:off x="16408632" y="116634"/>
            <a:ext cx="1786414" cy="320164"/>
            <a:chOff x="0" y="0"/>
            <a:chExt cx="2381885" cy="426885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381885" cy="426847"/>
            </a:xfrm>
            <a:custGeom>
              <a:avLst/>
              <a:gdLst/>
              <a:ahLst/>
              <a:cxnLst/>
              <a:rect l="l" t="t" r="r" b="b"/>
              <a:pathLst>
                <a:path w="2381885" h="426847">
                  <a:moveTo>
                    <a:pt x="0" y="0"/>
                  </a:moveTo>
                  <a:lnTo>
                    <a:pt x="2381885" y="0"/>
                  </a:lnTo>
                  <a:lnTo>
                    <a:pt x="2381885" y="426847"/>
                  </a:lnTo>
                  <a:lnTo>
                    <a:pt x="0" y="4268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b="-8"/>
              </a:stretch>
            </a:blipFill>
          </p:spPr>
        </p:sp>
      </p:grp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3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555377" y="927945"/>
            <a:ext cx="53731" cy="53731"/>
          </a:xfrm>
          <a:custGeom>
            <a:avLst/>
            <a:gdLst/>
            <a:ahLst/>
            <a:cxnLst/>
            <a:rect l="l" t="t" r="r" b="b"/>
            <a:pathLst>
              <a:path w="53731" h="53731">
                <a:moveTo>
                  <a:pt x="0" y="0"/>
                </a:moveTo>
                <a:lnTo>
                  <a:pt x="53730" y="0"/>
                </a:lnTo>
                <a:lnTo>
                  <a:pt x="53730" y="53730"/>
                </a:lnTo>
                <a:lnTo>
                  <a:pt x="0" y="5373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3076204" y="1625489"/>
            <a:ext cx="12451394" cy="8322774"/>
            <a:chOff x="0" y="0"/>
            <a:chExt cx="16601859" cy="11097031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6601821" cy="11097006"/>
            </a:xfrm>
            <a:custGeom>
              <a:avLst/>
              <a:gdLst/>
              <a:ahLst/>
              <a:cxnLst/>
              <a:rect l="l" t="t" r="r" b="b"/>
              <a:pathLst>
                <a:path w="16601821" h="11097006">
                  <a:moveTo>
                    <a:pt x="0" y="0"/>
                  </a:moveTo>
                  <a:lnTo>
                    <a:pt x="16601821" y="0"/>
                  </a:lnTo>
                  <a:lnTo>
                    <a:pt x="16601821" y="11097006"/>
                  </a:lnTo>
                  <a:lnTo>
                    <a:pt x="0" y="1109700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31" r="-131"/>
              </a:stretch>
            </a:blipFill>
          </p:spPr>
        </p:sp>
      </p:grpSp>
      <p:sp>
        <p:nvSpPr>
          <p:cNvPr id="5" name="TextBox 5"/>
          <p:cNvSpPr txBox="1"/>
          <p:nvPr/>
        </p:nvSpPr>
        <p:spPr>
          <a:xfrm>
            <a:off x="3476054" y="-112500"/>
            <a:ext cx="10719615" cy="15452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1" dirty="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FUNCTIONALITIES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129064" y="116634"/>
            <a:ext cx="549021" cy="577177"/>
            <a:chOff x="0" y="0"/>
            <a:chExt cx="732028" cy="769569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732028" cy="769620"/>
            </a:xfrm>
            <a:custGeom>
              <a:avLst/>
              <a:gdLst/>
              <a:ahLst/>
              <a:cxnLst/>
              <a:rect l="l" t="t" r="r" b="b"/>
              <a:pathLst>
                <a:path w="732028" h="769620">
                  <a:moveTo>
                    <a:pt x="0" y="0"/>
                  </a:moveTo>
                  <a:lnTo>
                    <a:pt x="732028" y="0"/>
                  </a:lnTo>
                  <a:lnTo>
                    <a:pt x="732028" y="769620"/>
                  </a:lnTo>
                  <a:lnTo>
                    <a:pt x="0" y="7696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b="6"/>
              </a:stretch>
            </a:blipFill>
          </p:spPr>
        </p:sp>
      </p:grpSp>
      <p:grpSp>
        <p:nvGrpSpPr>
          <p:cNvPr id="8" name="Group 8"/>
          <p:cNvGrpSpPr/>
          <p:nvPr/>
        </p:nvGrpSpPr>
        <p:grpSpPr>
          <a:xfrm>
            <a:off x="16408632" y="116634"/>
            <a:ext cx="1786414" cy="320164"/>
            <a:chOff x="0" y="0"/>
            <a:chExt cx="2381885" cy="426885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381885" cy="426847"/>
            </a:xfrm>
            <a:custGeom>
              <a:avLst/>
              <a:gdLst/>
              <a:ahLst/>
              <a:cxnLst/>
              <a:rect l="l" t="t" r="r" b="b"/>
              <a:pathLst>
                <a:path w="2381885" h="426847">
                  <a:moveTo>
                    <a:pt x="0" y="0"/>
                  </a:moveTo>
                  <a:lnTo>
                    <a:pt x="2381885" y="0"/>
                  </a:lnTo>
                  <a:lnTo>
                    <a:pt x="2381885" y="426847"/>
                  </a:lnTo>
                  <a:lnTo>
                    <a:pt x="0" y="4268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b="-8"/>
              </a:stretch>
            </a:blipFill>
          </p:spPr>
        </p:sp>
      </p:grp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  <p:sp>
        <p:nvSpPr>
          <p:cNvPr id="4" name="Freeform 4"/>
          <p:cNvSpPr/>
          <p:nvPr/>
        </p:nvSpPr>
        <p:spPr>
          <a:xfrm>
            <a:off x="0" y="-144666"/>
            <a:ext cx="5172075" cy="10431666"/>
          </a:xfrm>
          <a:custGeom>
            <a:avLst/>
            <a:gdLst/>
            <a:ahLst/>
            <a:cxnLst/>
            <a:rect l="l" t="t" r="r" b="b"/>
            <a:pathLst>
              <a:path w="5172075" h="10431666">
                <a:moveTo>
                  <a:pt x="0" y="0"/>
                </a:moveTo>
                <a:lnTo>
                  <a:pt x="5172075" y="0"/>
                </a:lnTo>
                <a:lnTo>
                  <a:pt x="5172075" y="10431666"/>
                </a:lnTo>
                <a:lnTo>
                  <a:pt x="0" y="1043166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5" name="Group 5"/>
          <p:cNvGrpSpPr/>
          <p:nvPr/>
        </p:nvGrpSpPr>
        <p:grpSpPr>
          <a:xfrm>
            <a:off x="1657350" y="1200150"/>
            <a:ext cx="7029450" cy="9086850"/>
            <a:chOff x="0" y="0"/>
            <a:chExt cx="9372600" cy="12115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9372600" cy="12115800"/>
            </a:xfrm>
            <a:custGeom>
              <a:avLst/>
              <a:gdLst/>
              <a:ahLst/>
              <a:cxnLst/>
              <a:rect l="l" t="t" r="r" b="b"/>
              <a:pathLst>
                <a:path w="9372600" h="12115800">
                  <a:moveTo>
                    <a:pt x="0" y="0"/>
                  </a:moveTo>
                  <a:lnTo>
                    <a:pt x="9372600" y="0"/>
                  </a:lnTo>
                  <a:lnTo>
                    <a:pt x="9372600" y="12115800"/>
                  </a:lnTo>
                  <a:lnTo>
                    <a:pt x="0" y="12115800"/>
                  </a:lnTo>
                  <a:close/>
                </a:path>
              </a:pathLst>
            </a:custGeom>
            <a:blipFill>
              <a:blip r:embed="rId5"/>
              <a:stretch>
                <a:fillRect l="-46951" r="-46951"/>
              </a:stretch>
            </a:blipFill>
          </p:spPr>
        </p:sp>
      </p:grpSp>
      <p:sp>
        <p:nvSpPr>
          <p:cNvPr id="7" name="TextBox 7"/>
          <p:cNvSpPr txBox="1"/>
          <p:nvPr/>
        </p:nvSpPr>
        <p:spPr>
          <a:xfrm>
            <a:off x="8818674" y="2153326"/>
            <a:ext cx="9260100" cy="14602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919"/>
              </a:lnSpc>
            </a:pPr>
            <a:r>
              <a:rPr lang="en-US" sz="8514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TOPICS USED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650254" y="4667250"/>
            <a:ext cx="7053367" cy="33570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31574" lvl="2" indent="-243858" algn="l">
              <a:lnSpc>
                <a:spcPts val="6304"/>
              </a:lnSpc>
              <a:buFont typeface="Arial"/>
              <a:buChar char="⚬"/>
            </a:pPr>
            <a:r>
              <a:rPr lang="en-US" sz="32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HTML</a:t>
            </a:r>
          </a:p>
          <a:p>
            <a:pPr marL="731574" lvl="2" indent="-243858" algn="l">
              <a:lnSpc>
                <a:spcPts val="6304"/>
              </a:lnSpc>
              <a:buFont typeface="Arial"/>
              <a:buChar char="⚬"/>
            </a:pPr>
            <a:r>
              <a:rPr lang="en-US" sz="32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CSS</a:t>
            </a:r>
          </a:p>
          <a:p>
            <a:pPr marL="731574" lvl="2" indent="-243858" algn="l">
              <a:lnSpc>
                <a:spcPts val="6304"/>
              </a:lnSpc>
              <a:buFont typeface="Arial"/>
              <a:buChar char="⚬"/>
            </a:pPr>
            <a:r>
              <a:rPr lang="en-US" sz="32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BOOTSTRAP</a:t>
            </a:r>
          </a:p>
          <a:p>
            <a:pPr marL="731574" lvl="2" indent="-243858" algn="l">
              <a:lnSpc>
                <a:spcPts val="6304"/>
              </a:lnSpc>
              <a:buFont typeface="Arial"/>
              <a:buChar char="⚬"/>
            </a:pPr>
            <a:r>
              <a:rPr lang="en-US" sz="32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JAVASCRIPT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129064" y="116634"/>
            <a:ext cx="549021" cy="577177"/>
            <a:chOff x="0" y="0"/>
            <a:chExt cx="732028" cy="769569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732028" cy="769620"/>
            </a:xfrm>
            <a:custGeom>
              <a:avLst/>
              <a:gdLst/>
              <a:ahLst/>
              <a:cxnLst/>
              <a:rect l="l" t="t" r="r" b="b"/>
              <a:pathLst>
                <a:path w="732028" h="769620">
                  <a:moveTo>
                    <a:pt x="0" y="0"/>
                  </a:moveTo>
                  <a:lnTo>
                    <a:pt x="732028" y="0"/>
                  </a:lnTo>
                  <a:lnTo>
                    <a:pt x="732028" y="769620"/>
                  </a:lnTo>
                  <a:lnTo>
                    <a:pt x="0" y="7696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b="6"/>
              </a:stretch>
            </a:blipFill>
          </p:spPr>
        </p:sp>
      </p:grpSp>
      <p:grpSp>
        <p:nvGrpSpPr>
          <p:cNvPr id="11" name="Group 11"/>
          <p:cNvGrpSpPr/>
          <p:nvPr/>
        </p:nvGrpSpPr>
        <p:grpSpPr>
          <a:xfrm>
            <a:off x="16408632" y="116634"/>
            <a:ext cx="1786414" cy="320164"/>
            <a:chOff x="0" y="0"/>
            <a:chExt cx="2381885" cy="426885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381885" cy="426847"/>
            </a:xfrm>
            <a:custGeom>
              <a:avLst/>
              <a:gdLst/>
              <a:ahLst/>
              <a:cxnLst/>
              <a:rect l="l" t="t" r="r" b="b"/>
              <a:pathLst>
                <a:path w="2381885" h="426847">
                  <a:moveTo>
                    <a:pt x="0" y="0"/>
                  </a:moveTo>
                  <a:lnTo>
                    <a:pt x="2381885" y="0"/>
                  </a:lnTo>
                  <a:lnTo>
                    <a:pt x="2381885" y="426847"/>
                  </a:lnTo>
                  <a:lnTo>
                    <a:pt x="0" y="4268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b="-8"/>
              </a:stretch>
            </a:blipFill>
          </p:spPr>
        </p:sp>
      </p:grp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BDC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3606346" y="-2419350"/>
            <a:ext cx="15349661" cy="14381817"/>
          </a:xfrm>
          <a:custGeom>
            <a:avLst/>
            <a:gdLst/>
            <a:ahLst/>
            <a:cxnLst/>
            <a:rect l="l" t="t" r="r" b="b"/>
            <a:pathLst>
              <a:path w="15349661" h="14381817">
                <a:moveTo>
                  <a:pt x="0" y="0"/>
                </a:moveTo>
                <a:lnTo>
                  <a:pt x="15349661" y="0"/>
                </a:lnTo>
                <a:lnTo>
                  <a:pt x="15349661" y="14381817"/>
                </a:lnTo>
                <a:lnTo>
                  <a:pt x="0" y="1438181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4967649" y="-2115598"/>
            <a:ext cx="15349661" cy="14381817"/>
          </a:xfrm>
          <a:custGeom>
            <a:avLst/>
            <a:gdLst/>
            <a:ahLst/>
            <a:cxnLst/>
            <a:rect l="l" t="t" r="r" b="b"/>
            <a:pathLst>
              <a:path w="15349661" h="14381817">
                <a:moveTo>
                  <a:pt x="0" y="0"/>
                </a:moveTo>
                <a:lnTo>
                  <a:pt x="15349661" y="0"/>
                </a:lnTo>
                <a:lnTo>
                  <a:pt x="15349661" y="14381817"/>
                </a:lnTo>
                <a:lnTo>
                  <a:pt x="0" y="1438181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1028700" y="685800"/>
            <a:ext cx="6389103" cy="17379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880"/>
              </a:lnSpc>
            </a:pPr>
            <a:r>
              <a:rPr lang="en-US" sz="9200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MERITS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9144000" y="685800"/>
            <a:ext cx="9651149" cy="17379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DEMEITS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0435" y="2367544"/>
            <a:ext cx="8345624" cy="61116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77118" lvl="2" indent="-259039" algn="l">
              <a:lnSpc>
                <a:spcPts val="6730"/>
              </a:lnSpc>
              <a:buFont typeface="Arial"/>
              <a:buChar char="⚬"/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Easy and quick appointment booking</a:t>
            </a:r>
          </a:p>
          <a:p>
            <a:pPr marL="777118" lvl="2" indent="-259039" algn="l">
              <a:lnSpc>
                <a:spcPts val="6730"/>
              </a:lnSpc>
              <a:buFont typeface="Arial"/>
              <a:buChar char="⚬"/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Reduces paperwork and manual effort</a:t>
            </a:r>
          </a:p>
          <a:p>
            <a:pPr marL="777118" lvl="2" indent="-259039" algn="l">
              <a:lnSpc>
                <a:spcPts val="6730"/>
              </a:lnSpc>
              <a:buFont typeface="Arial"/>
              <a:buChar char="⚬"/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Improves healthcare accessibility</a:t>
            </a:r>
          </a:p>
          <a:p>
            <a:pPr marL="777118" lvl="2" indent="-259039" algn="l">
              <a:lnSpc>
                <a:spcPts val="6730"/>
              </a:lnSpc>
              <a:buFont typeface="Arial"/>
              <a:buChar char="⚬"/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User-friendly and time-saving</a:t>
            </a:r>
          </a:p>
          <a:p>
            <a:pPr marL="777118" lvl="2" indent="-259039" algn="l">
              <a:lnSpc>
                <a:spcPts val="6730"/>
              </a:lnSpc>
              <a:buFont typeface="Arial"/>
              <a:buChar char="⚬"/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Centralized data management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1430933" y="2558044"/>
            <a:ext cx="6699113" cy="58769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77118" lvl="2" indent="-259039" algn="l">
              <a:lnSpc>
                <a:spcPts val="5779"/>
              </a:lnSpc>
              <a:buFont typeface="Arial"/>
              <a:buChar char="⚬"/>
            </a:pPr>
            <a:r>
              <a:rPr lang="en-US" sz="3399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Requires stable internet connection</a:t>
            </a:r>
          </a:p>
          <a:p>
            <a:pPr marL="777118" lvl="2" indent="-259039" algn="l">
              <a:lnSpc>
                <a:spcPts val="5779"/>
              </a:lnSpc>
              <a:buFont typeface="Arial"/>
              <a:buChar char="⚬"/>
            </a:pPr>
            <a:r>
              <a:rPr lang="en-US" sz="3399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Data privacy and security concerns</a:t>
            </a:r>
          </a:p>
          <a:p>
            <a:pPr marL="777118" lvl="2" indent="-259039" algn="l">
              <a:lnSpc>
                <a:spcPts val="5779"/>
              </a:lnSpc>
              <a:buFont typeface="Arial"/>
              <a:buChar char="⚬"/>
            </a:pPr>
            <a:r>
              <a:rPr lang="en-US" sz="3399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Limited to online users only</a:t>
            </a:r>
          </a:p>
          <a:p>
            <a:pPr marL="777118" lvl="2" indent="-259039" algn="l">
              <a:lnSpc>
                <a:spcPts val="5779"/>
              </a:lnSpc>
              <a:buFont typeface="Arial"/>
              <a:buChar char="⚬"/>
            </a:pPr>
            <a:r>
              <a:rPr lang="en-US" sz="3399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May require technical support</a:t>
            </a:r>
          </a:p>
          <a:p>
            <a:pPr marL="777118" lvl="2" indent="-259039" algn="l">
              <a:lnSpc>
                <a:spcPts val="5779"/>
              </a:lnSpc>
            </a:pPr>
            <a:endParaRPr lang="en-US" sz="3399" dirty="0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  <p:grpSp>
        <p:nvGrpSpPr>
          <p:cNvPr id="8" name="Group 8"/>
          <p:cNvGrpSpPr/>
          <p:nvPr/>
        </p:nvGrpSpPr>
        <p:grpSpPr>
          <a:xfrm>
            <a:off x="129064" y="116634"/>
            <a:ext cx="549021" cy="577177"/>
            <a:chOff x="0" y="0"/>
            <a:chExt cx="732028" cy="769569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732028" cy="769620"/>
            </a:xfrm>
            <a:custGeom>
              <a:avLst/>
              <a:gdLst/>
              <a:ahLst/>
              <a:cxnLst/>
              <a:rect l="l" t="t" r="r" b="b"/>
              <a:pathLst>
                <a:path w="732028" h="769620">
                  <a:moveTo>
                    <a:pt x="0" y="0"/>
                  </a:moveTo>
                  <a:lnTo>
                    <a:pt x="732028" y="0"/>
                  </a:lnTo>
                  <a:lnTo>
                    <a:pt x="732028" y="769620"/>
                  </a:lnTo>
                  <a:lnTo>
                    <a:pt x="0" y="7696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b="6"/>
              </a:stretch>
            </a:blipFill>
          </p:spPr>
        </p:sp>
      </p:grpSp>
      <p:grpSp>
        <p:nvGrpSpPr>
          <p:cNvPr id="10" name="Group 10"/>
          <p:cNvGrpSpPr/>
          <p:nvPr/>
        </p:nvGrpSpPr>
        <p:grpSpPr>
          <a:xfrm>
            <a:off x="16408632" y="116634"/>
            <a:ext cx="1786414" cy="320164"/>
            <a:chOff x="0" y="0"/>
            <a:chExt cx="2381885" cy="426885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381885" cy="426847"/>
            </a:xfrm>
            <a:custGeom>
              <a:avLst/>
              <a:gdLst/>
              <a:ahLst/>
              <a:cxnLst/>
              <a:rect l="l" t="t" r="r" b="b"/>
              <a:pathLst>
                <a:path w="2381885" h="426847">
                  <a:moveTo>
                    <a:pt x="0" y="0"/>
                  </a:moveTo>
                  <a:lnTo>
                    <a:pt x="2381885" y="0"/>
                  </a:lnTo>
                  <a:lnTo>
                    <a:pt x="2381885" y="426847"/>
                  </a:lnTo>
                  <a:lnTo>
                    <a:pt x="0" y="4268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b="-8"/>
              </a:stretch>
            </a:blipFill>
          </p:spPr>
        </p:sp>
      </p:grp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3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9144000" cy="10287000"/>
            <a:chOff x="0" y="0"/>
            <a:chExt cx="12192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2192000" cy="13716000"/>
            </a:xfrm>
            <a:custGeom>
              <a:avLst/>
              <a:gdLst/>
              <a:ahLst/>
              <a:cxnLst/>
              <a:rect l="l" t="t" r="r" b="b"/>
              <a:pathLst>
                <a:path w="12192000" h="13716000">
                  <a:moveTo>
                    <a:pt x="0" y="0"/>
                  </a:moveTo>
                  <a:lnTo>
                    <a:pt x="12192000" y="0"/>
                  </a:lnTo>
                  <a:lnTo>
                    <a:pt x="12192000" y="13716000"/>
                  </a:lnTo>
                  <a:lnTo>
                    <a:pt x="0" y="13716000"/>
                  </a:lnTo>
                  <a:close/>
                </a:path>
              </a:pathLst>
            </a:custGeom>
            <a:blipFill>
              <a:blip r:embed="rId2"/>
              <a:stretch>
                <a:fillRect l="-6250" r="-6250"/>
              </a:stretch>
            </a:blipFill>
          </p:spPr>
        </p:sp>
      </p:grpSp>
      <p:sp>
        <p:nvSpPr>
          <p:cNvPr id="4" name="Freeform 4"/>
          <p:cNvSpPr/>
          <p:nvPr/>
        </p:nvSpPr>
        <p:spPr>
          <a:xfrm rot="-5400000">
            <a:off x="17877682" y="4677775"/>
            <a:ext cx="191986" cy="287026"/>
          </a:xfrm>
          <a:custGeom>
            <a:avLst/>
            <a:gdLst/>
            <a:ahLst/>
            <a:cxnLst/>
            <a:rect l="l" t="t" r="r" b="b"/>
            <a:pathLst>
              <a:path w="191986" h="287026">
                <a:moveTo>
                  <a:pt x="0" y="0"/>
                </a:moveTo>
                <a:lnTo>
                  <a:pt x="191986" y="0"/>
                </a:lnTo>
                <a:lnTo>
                  <a:pt x="191986" y="287026"/>
                </a:lnTo>
                <a:lnTo>
                  <a:pt x="0" y="28702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640" r="-640"/>
            </a:stretch>
          </a:blipFill>
        </p:spPr>
      </p:sp>
      <p:sp>
        <p:nvSpPr>
          <p:cNvPr id="5" name="Freeform 5"/>
          <p:cNvSpPr/>
          <p:nvPr/>
        </p:nvSpPr>
        <p:spPr>
          <a:xfrm rot="5400000">
            <a:off x="17877682" y="5323094"/>
            <a:ext cx="191986" cy="287026"/>
          </a:xfrm>
          <a:custGeom>
            <a:avLst/>
            <a:gdLst/>
            <a:ahLst/>
            <a:cxnLst/>
            <a:rect l="l" t="t" r="r" b="b"/>
            <a:pathLst>
              <a:path w="191986" h="287026">
                <a:moveTo>
                  <a:pt x="0" y="0"/>
                </a:moveTo>
                <a:lnTo>
                  <a:pt x="191986" y="0"/>
                </a:lnTo>
                <a:lnTo>
                  <a:pt x="191986" y="287026"/>
                </a:lnTo>
                <a:lnTo>
                  <a:pt x="0" y="28702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640" r="-640"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990600" y="720090"/>
            <a:ext cx="483956" cy="318135"/>
          </a:xfrm>
          <a:custGeom>
            <a:avLst/>
            <a:gdLst/>
            <a:ahLst/>
            <a:cxnLst/>
            <a:rect l="l" t="t" r="r" b="b"/>
            <a:pathLst>
              <a:path w="483956" h="318135">
                <a:moveTo>
                  <a:pt x="0" y="0"/>
                </a:moveTo>
                <a:lnTo>
                  <a:pt x="483956" y="0"/>
                </a:lnTo>
                <a:lnTo>
                  <a:pt x="483956" y="318135"/>
                </a:lnTo>
                <a:lnTo>
                  <a:pt x="0" y="31813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t="-706" b="-706"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1584265" y="643890"/>
            <a:ext cx="1408833" cy="3943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b="1" spc="-84">
                <a:solidFill>
                  <a:srgbClr val="2B2B2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Fauget</a:t>
            </a:r>
          </a:p>
        </p:txBody>
      </p:sp>
      <p:sp>
        <p:nvSpPr>
          <p:cNvPr id="8" name="Freeform 8"/>
          <p:cNvSpPr/>
          <p:nvPr/>
        </p:nvSpPr>
        <p:spPr>
          <a:xfrm>
            <a:off x="2555377" y="927945"/>
            <a:ext cx="53731" cy="53731"/>
          </a:xfrm>
          <a:custGeom>
            <a:avLst/>
            <a:gdLst/>
            <a:ahLst/>
            <a:cxnLst/>
            <a:rect l="l" t="t" r="r" b="b"/>
            <a:pathLst>
              <a:path w="53731" h="53731">
                <a:moveTo>
                  <a:pt x="0" y="0"/>
                </a:moveTo>
                <a:lnTo>
                  <a:pt x="53730" y="0"/>
                </a:lnTo>
                <a:lnTo>
                  <a:pt x="53730" y="53730"/>
                </a:lnTo>
                <a:lnTo>
                  <a:pt x="0" y="5373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9153525" y="1118159"/>
            <a:ext cx="9134475" cy="17379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FUTURE SCOPE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144000" y="3323120"/>
            <a:ext cx="8820150" cy="51085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71502" lvl="2" indent="-190501" algn="l">
              <a:lnSpc>
                <a:spcPts val="5749"/>
              </a:lnSpc>
              <a:buFont typeface="Arial"/>
              <a:buChar char="⚬"/>
            </a:pPr>
            <a:r>
              <a:rPr lang="en-US" sz="2499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Integration of online video consultations.</a:t>
            </a:r>
          </a:p>
          <a:p>
            <a:pPr marL="571502" lvl="2" indent="-190501" algn="l">
              <a:lnSpc>
                <a:spcPts val="5749"/>
              </a:lnSpc>
              <a:buFont typeface="Arial"/>
              <a:buChar char="⚬"/>
            </a:pPr>
            <a:r>
              <a:rPr lang="en-US" sz="2499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Addition of AI-based doctor recommendations.</a:t>
            </a:r>
          </a:p>
          <a:p>
            <a:pPr marL="571502" lvl="2" indent="-190501" algn="l">
              <a:lnSpc>
                <a:spcPts val="5749"/>
              </a:lnSpc>
              <a:buFont typeface="Arial"/>
              <a:buChar char="⚬"/>
            </a:pPr>
            <a:r>
              <a:rPr lang="en-US" sz="2499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Mobile app development for better accessibility.</a:t>
            </a:r>
          </a:p>
          <a:p>
            <a:pPr marL="571502" lvl="2" indent="-190501" algn="l">
              <a:lnSpc>
                <a:spcPts val="5749"/>
              </a:lnSpc>
              <a:buFont typeface="Arial"/>
              <a:buChar char="⚬"/>
            </a:pPr>
            <a:r>
              <a:rPr lang="en-US" sz="2499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Integration with wearable health devices.</a:t>
            </a:r>
          </a:p>
          <a:p>
            <a:pPr marL="571502" lvl="2" indent="-190501" algn="l">
              <a:lnSpc>
                <a:spcPts val="5749"/>
              </a:lnSpc>
              <a:buFont typeface="Arial"/>
              <a:buChar char="⚬"/>
            </a:pPr>
            <a:r>
              <a:rPr lang="en-US" sz="2499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Expansion to emergency and ambulance services.</a:t>
            </a:r>
          </a:p>
          <a:p>
            <a:pPr marL="571502" lvl="2" indent="-190501" algn="l">
              <a:lnSpc>
                <a:spcPts val="5749"/>
              </a:lnSpc>
              <a:buFont typeface="Arial"/>
              <a:buChar char="⚬"/>
            </a:pPr>
            <a:r>
              <a:rPr lang="en-US" sz="2499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Multi-language support for wider reach.</a:t>
            </a:r>
          </a:p>
          <a:p>
            <a:pPr marL="571502" lvl="2" indent="-190501" algn="ctr">
              <a:lnSpc>
                <a:spcPts val="3500"/>
              </a:lnSpc>
            </a:pPr>
            <a:endParaRPr lang="en-US" sz="2499" dirty="0">
              <a:solidFill>
                <a:srgbClr val="FFFFFF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  <p:grpSp>
        <p:nvGrpSpPr>
          <p:cNvPr id="11" name="Group 11"/>
          <p:cNvGrpSpPr/>
          <p:nvPr/>
        </p:nvGrpSpPr>
        <p:grpSpPr>
          <a:xfrm>
            <a:off x="129064" y="116634"/>
            <a:ext cx="549021" cy="577177"/>
            <a:chOff x="0" y="0"/>
            <a:chExt cx="732028" cy="769569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732028" cy="769620"/>
            </a:xfrm>
            <a:custGeom>
              <a:avLst/>
              <a:gdLst/>
              <a:ahLst/>
              <a:cxnLst/>
              <a:rect l="l" t="t" r="r" b="b"/>
              <a:pathLst>
                <a:path w="732028" h="769620">
                  <a:moveTo>
                    <a:pt x="0" y="0"/>
                  </a:moveTo>
                  <a:lnTo>
                    <a:pt x="732028" y="0"/>
                  </a:lnTo>
                  <a:lnTo>
                    <a:pt x="732028" y="769620"/>
                  </a:lnTo>
                  <a:lnTo>
                    <a:pt x="0" y="7696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b="6"/>
              </a:stretch>
            </a:blipFill>
          </p:spPr>
        </p:sp>
      </p:grpSp>
      <p:grpSp>
        <p:nvGrpSpPr>
          <p:cNvPr id="13" name="Group 13"/>
          <p:cNvGrpSpPr/>
          <p:nvPr/>
        </p:nvGrpSpPr>
        <p:grpSpPr>
          <a:xfrm>
            <a:off x="16408632" y="116634"/>
            <a:ext cx="1786414" cy="320164"/>
            <a:chOff x="0" y="0"/>
            <a:chExt cx="2381885" cy="426885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2381885" cy="426847"/>
            </a:xfrm>
            <a:custGeom>
              <a:avLst/>
              <a:gdLst/>
              <a:ahLst/>
              <a:cxnLst/>
              <a:rect l="l" t="t" r="r" b="b"/>
              <a:pathLst>
                <a:path w="2381885" h="426847">
                  <a:moveTo>
                    <a:pt x="0" y="0"/>
                  </a:moveTo>
                  <a:lnTo>
                    <a:pt x="2381885" y="0"/>
                  </a:lnTo>
                  <a:lnTo>
                    <a:pt x="2381885" y="426847"/>
                  </a:lnTo>
                  <a:lnTo>
                    <a:pt x="0" y="4268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b="-8"/>
              </a:stretch>
            </a:blipFill>
          </p:spPr>
        </p:sp>
      </p:grp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3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031665" y="3659743"/>
            <a:ext cx="12382710" cy="20135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439"/>
              </a:lnSpc>
            </a:pPr>
            <a:r>
              <a:rPr lang="en-US" sz="9600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THANK YOU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129064" y="116634"/>
            <a:ext cx="549021" cy="577177"/>
            <a:chOff x="0" y="0"/>
            <a:chExt cx="732028" cy="769569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732028" cy="769620"/>
            </a:xfrm>
            <a:custGeom>
              <a:avLst/>
              <a:gdLst/>
              <a:ahLst/>
              <a:cxnLst/>
              <a:rect l="l" t="t" r="r" b="b"/>
              <a:pathLst>
                <a:path w="732028" h="769620">
                  <a:moveTo>
                    <a:pt x="0" y="0"/>
                  </a:moveTo>
                  <a:lnTo>
                    <a:pt x="732028" y="0"/>
                  </a:lnTo>
                  <a:lnTo>
                    <a:pt x="732028" y="769620"/>
                  </a:lnTo>
                  <a:lnTo>
                    <a:pt x="0" y="7696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b="6"/>
              </a:stretch>
            </a:blipFill>
          </p:spPr>
        </p:sp>
      </p:grpSp>
      <p:grpSp>
        <p:nvGrpSpPr>
          <p:cNvPr id="5" name="Group 5"/>
          <p:cNvGrpSpPr/>
          <p:nvPr/>
        </p:nvGrpSpPr>
        <p:grpSpPr>
          <a:xfrm>
            <a:off x="16408632" y="116634"/>
            <a:ext cx="1786414" cy="320164"/>
            <a:chOff x="0" y="0"/>
            <a:chExt cx="2381885" cy="426885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381885" cy="426847"/>
            </a:xfrm>
            <a:custGeom>
              <a:avLst/>
              <a:gdLst/>
              <a:ahLst/>
              <a:cxnLst/>
              <a:rect l="l" t="t" r="r" b="b"/>
              <a:pathLst>
                <a:path w="2381885" h="426847">
                  <a:moveTo>
                    <a:pt x="0" y="0"/>
                  </a:moveTo>
                  <a:lnTo>
                    <a:pt x="2381885" y="0"/>
                  </a:lnTo>
                  <a:lnTo>
                    <a:pt x="2381885" y="426847"/>
                  </a:lnTo>
                  <a:lnTo>
                    <a:pt x="0" y="4268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b="-8"/>
              </a:stretch>
            </a:blipFill>
          </p:spPr>
        </p:sp>
      </p:grp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150</TotalTime>
  <Words>211</Words>
  <Application>Microsoft Office PowerPoint</Application>
  <PresentationFormat>Custom</PresentationFormat>
  <Paragraphs>46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8" baseType="lpstr">
      <vt:lpstr>Canva Sans</vt:lpstr>
      <vt:lpstr>Montserrat Bold</vt:lpstr>
      <vt:lpstr>Canva Sans Bold</vt:lpstr>
      <vt:lpstr>Poppins Bold</vt:lpstr>
      <vt:lpstr>Poppins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FINALPPTOFFSD.pptx</dc:title>
  <cp:lastModifiedBy>180280103006_Janki Dalal</cp:lastModifiedBy>
  <cp:revision>3</cp:revision>
  <dcterms:created xsi:type="dcterms:W3CDTF">2006-08-16T00:00:00Z</dcterms:created>
  <dcterms:modified xsi:type="dcterms:W3CDTF">2026-02-20T07:27:21Z</dcterms:modified>
  <dc:identifier>DAHB0zJGGhs</dc:identifier>
</cp:coreProperties>
</file>